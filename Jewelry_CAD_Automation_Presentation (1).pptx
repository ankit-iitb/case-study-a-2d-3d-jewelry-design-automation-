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1675"/>
  <p:notesSz cx="6858000" cy="9144000"/>
  <p:embeddedFontLst>
    <p:embeddedFont>
      <p:font typeface="Playfair Display"/>
      <p:bold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Montserrat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MontserratMedium-bold.fntdata"/><Relationship Id="rId23" Type="http://schemas.openxmlformats.org/officeDocument/2006/relationships/font" Target="fonts/Montserrat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boldItalic.fntdata"/><Relationship Id="rId25" Type="http://schemas.openxmlformats.org/officeDocument/2006/relationships/font" Target="fonts/Montserrat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-bold.fntdata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font" Target="fonts/PlayfairDispl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d0e311947_0_1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dd0e311947_0_17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d0e311947_0_2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dd0e311947_0_24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d0e311947_0_2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dd0e311947_0_27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 2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">
  <p:cSld name="Blank 3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4">
  <p:cSld name="Blank 4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5">
  <p:cSld name="Blank 5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6">
  <p:cSld name="Blank 6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7">
  <p:cSld name="Blank 7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8">
  <p:cSld name="Blank 8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9">
  <p:cSld name="Blank 9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0">
  <p:cSld name="Blank 10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1">
  <p:cSld name="Blank 1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2">
  <p:cSld name="Blank 12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3">
  <p:cSld name="Blank 13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26"/>
          <p:cNvGrpSpPr/>
          <p:nvPr/>
        </p:nvGrpSpPr>
        <p:grpSpPr>
          <a:xfrm>
            <a:off x="9334500" y="-666750"/>
            <a:ext cx="5715000" cy="10382250"/>
            <a:chOff x="9334500" y="-666750"/>
            <a:chExt cx="5715000" cy="10382250"/>
          </a:xfrm>
        </p:grpSpPr>
        <p:sp>
          <p:nvSpPr>
            <p:cNvPr id="137" name="Google Shape;137;p26"/>
            <p:cNvSpPr/>
            <p:nvPr/>
          </p:nvSpPr>
          <p:spPr>
            <a:xfrm>
              <a:off x="10001250" y="-666750"/>
              <a:ext cx="2857500" cy="2857500"/>
            </a:xfrm>
            <a:prstGeom prst="ellipse">
              <a:avLst/>
            </a:prstGeom>
            <a:solidFill>
              <a:srgbClr val="D4AF37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6"/>
            <p:cNvSpPr/>
            <p:nvPr/>
          </p:nvSpPr>
          <p:spPr>
            <a:xfrm>
              <a:off x="9334500" y="4000500"/>
              <a:ext cx="5715000" cy="5715000"/>
            </a:xfrm>
            <a:prstGeom prst="ellipse">
              <a:avLst/>
            </a:prstGeom>
            <a:solidFill>
              <a:srgbClr val="D4AF3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" name="Google Shape;139;p26"/>
          <p:cNvGrpSpPr/>
          <p:nvPr/>
        </p:nvGrpSpPr>
        <p:grpSpPr>
          <a:xfrm>
            <a:off x="914400" y="2286000"/>
            <a:ext cx="10363200" cy="1143000"/>
            <a:chOff x="914400" y="2286000"/>
            <a:chExt cx="10363200" cy="1143000"/>
          </a:xfrm>
        </p:grpSpPr>
        <p:sp>
          <p:nvSpPr>
            <p:cNvPr id="140" name="Google Shape;140;p26"/>
            <p:cNvSpPr/>
            <p:nvPr/>
          </p:nvSpPr>
          <p:spPr>
            <a:xfrm>
              <a:off x="1809750" y="2286000"/>
              <a:ext cx="8572500" cy="1143000"/>
            </a:xfrm>
            <a:prstGeom prst="roundRect">
              <a:avLst>
                <a:gd fmla="val 8333" name="adj"/>
              </a:avLst>
            </a:prstGeom>
            <a:solidFill>
              <a:srgbClr val="D4AF3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6"/>
            <p:cNvSpPr txBox="1"/>
            <p:nvPr/>
          </p:nvSpPr>
          <p:spPr>
            <a:xfrm>
              <a:off x="914400" y="2286000"/>
              <a:ext cx="10363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90">
                  <a:solidFill>
                    <a:srgbClr val="D4AF37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2D to 3D Jewelry Design Automation</a:t>
              </a:r>
              <a:endParaRPr b="1" sz="4590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</p:grpSp>
      <p:sp>
        <p:nvSpPr>
          <p:cNvPr id="142" name="Google Shape;142;p26"/>
          <p:cNvSpPr txBox="1"/>
          <p:nvPr/>
        </p:nvSpPr>
        <p:spPr>
          <a:xfrm>
            <a:off x="914400" y="3619500"/>
            <a:ext cx="103632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SMB Catalyst × IIT Bombay Campus Recruitment 2026</a:t>
            </a:r>
            <a:endParaRPr b="0" sz="20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rPr b="0" i="1" lang="en-US" sz="1800">
                <a:solidFill>
                  <a:srgbClr val="E0E0E0"/>
                </a:solidFill>
                <a:latin typeface="Montserrat"/>
                <a:ea typeface="Montserrat"/>
                <a:cs typeface="Montserrat"/>
                <a:sym typeface="Montserrat"/>
              </a:rPr>
              <a:t>Case Study A | 48-Hour Challenge</a:t>
            </a:r>
            <a:endParaRPr b="0" i="1" sz="1800">
              <a:solidFill>
                <a:srgbClr val="E0E0E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3" name="Google Shape;143;p26"/>
          <p:cNvGrpSpPr/>
          <p:nvPr/>
        </p:nvGrpSpPr>
        <p:grpSpPr>
          <a:xfrm>
            <a:off x="5514975" y="752475"/>
            <a:ext cx="1162200" cy="1222629"/>
            <a:chOff x="5514975" y="752475"/>
            <a:chExt cx="1162200" cy="1222629"/>
          </a:xfrm>
        </p:grpSpPr>
        <p:pic>
          <p:nvPicPr>
            <p:cNvPr id="144" name="Google Shape;144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14975" y="752475"/>
              <a:ext cx="1162200" cy="1162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26"/>
            <p:cNvSpPr txBox="1"/>
            <p:nvPr/>
          </p:nvSpPr>
          <p:spPr>
            <a:xfrm>
              <a:off x="5524500" y="832104"/>
              <a:ext cx="1143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D4AF3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diamond</a:t>
              </a:r>
              <a:endParaRPr sz="4800">
                <a:solidFill>
                  <a:srgbClr val="D4AF3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27"/>
          <p:cNvGrpSpPr/>
          <p:nvPr/>
        </p:nvGrpSpPr>
        <p:grpSpPr>
          <a:xfrm>
            <a:off x="0" y="0"/>
            <a:ext cx="12192000" cy="952500"/>
            <a:chOff x="0" y="0"/>
            <a:chExt cx="12192000" cy="952500"/>
          </a:xfrm>
        </p:grpSpPr>
        <p:sp>
          <p:nvSpPr>
            <p:cNvPr id="151" name="Google Shape;151;p27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7"/>
            <p:cNvSpPr txBox="1"/>
            <p:nvPr/>
          </p:nvSpPr>
          <p:spPr>
            <a:xfrm>
              <a:off x="457200" y="0"/>
              <a:ext cx="11277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Problem Understanding</a:t>
              </a:r>
              <a:endParaRPr b="1" sz="36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</p:grpSp>
      <p:grpSp>
        <p:nvGrpSpPr>
          <p:cNvPr id="153" name="Google Shape;153;p27"/>
          <p:cNvGrpSpPr/>
          <p:nvPr/>
        </p:nvGrpSpPr>
        <p:grpSpPr>
          <a:xfrm>
            <a:off x="457200" y="1238250"/>
            <a:ext cx="11277600" cy="1524000"/>
            <a:chOff x="457200" y="1238250"/>
            <a:chExt cx="11277600" cy="1524000"/>
          </a:xfrm>
        </p:grpSpPr>
        <p:sp>
          <p:nvSpPr>
            <p:cNvPr id="154" name="Google Shape;154;p27"/>
            <p:cNvSpPr/>
            <p:nvPr/>
          </p:nvSpPr>
          <p:spPr>
            <a:xfrm>
              <a:off x="457200" y="1238250"/>
              <a:ext cx="11277600" cy="1524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7"/>
            <p:cNvSpPr txBox="1"/>
            <p:nvPr/>
          </p:nvSpPr>
          <p:spPr>
            <a:xfrm>
              <a:off x="742950" y="1381125"/>
              <a:ext cx="10706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336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Current Jewelry Design Workflow</a:t>
              </a:r>
              <a:endParaRPr b="1" sz="1800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6" name="Google Shape;156;p27"/>
            <p:cNvSpPr txBox="1"/>
            <p:nvPr/>
          </p:nvSpPr>
          <p:spPr>
            <a:xfrm>
              <a:off x="742950" y="1857375"/>
              <a:ext cx="107061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4AF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Concept</a:t>
              </a:r>
              <a:r>
                <a:rPr b="0" lang="en-US" sz="1400">
                  <a:solidFill>
                    <a:srgbClr val="50505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→ </a:t>
              </a:r>
              <a:r>
                <a:rPr b="1" lang="en-US" sz="1400">
                  <a:solidFill>
                    <a:srgbClr val="D4AF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2D Design</a:t>
              </a:r>
              <a:r>
                <a:rPr b="0" lang="en-US" sz="1400">
                  <a:solidFill>
                    <a:srgbClr val="50505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→ </a:t>
              </a:r>
              <a:r>
                <a:rPr b="1" lang="en-US" sz="1400">
                  <a:solidFill>
                    <a:srgbClr val="B222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Manual CAD</a:t>
              </a:r>
              <a:r>
                <a:rPr b="0" lang="en-US" sz="1400">
                  <a:solidFill>
                    <a:srgbClr val="50505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→ 3D Print → Cast → Finish</a:t>
              </a:r>
              <a:endParaRPr b="0" sz="1400">
                <a:solidFill>
                  <a:srgbClr val="50505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i="1" lang="en-US" sz="1600">
                  <a:solidFill>
                    <a:srgbClr val="B22222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The Bottleneck: Manual CAD conversion takes 1-3 days per design</a:t>
              </a:r>
              <a:endParaRPr b="0" i="1" sz="1600">
                <a:solidFill>
                  <a:srgbClr val="B22222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57" name="Google Shape;157;p27"/>
          <p:cNvGrpSpPr/>
          <p:nvPr/>
        </p:nvGrpSpPr>
        <p:grpSpPr>
          <a:xfrm>
            <a:off x="457200" y="2952750"/>
            <a:ext cx="11277600" cy="3238500"/>
            <a:chOff x="457200" y="2952750"/>
            <a:chExt cx="11277600" cy="3238500"/>
          </a:xfrm>
        </p:grpSpPr>
        <p:sp>
          <p:nvSpPr>
            <p:cNvPr id="158" name="Google Shape;158;p27"/>
            <p:cNvSpPr txBox="1"/>
            <p:nvPr/>
          </p:nvSpPr>
          <p:spPr>
            <a:xfrm>
              <a:off x="457200" y="2952750"/>
              <a:ext cx="11277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03366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Industry Pain Points</a:t>
              </a:r>
              <a:endParaRPr b="1" sz="2200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grpSp>
          <p:nvGrpSpPr>
            <p:cNvPr id="159" name="Google Shape;159;p27"/>
            <p:cNvGrpSpPr/>
            <p:nvPr/>
          </p:nvGrpSpPr>
          <p:grpSpPr>
            <a:xfrm>
              <a:off x="457200" y="3524250"/>
              <a:ext cx="2619300" cy="2667000"/>
              <a:chOff x="457200" y="3524250"/>
              <a:chExt cx="2619300" cy="2667000"/>
            </a:xfrm>
          </p:grpSpPr>
          <p:sp>
            <p:nvSpPr>
              <p:cNvPr id="160" name="Google Shape;160;p27"/>
              <p:cNvSpPr/>
              <p:nvPr/>
            </p:nvSpPr>
            <p:spPr>
              <a:xfrm>
                <a:off x="457200" y="3524250"/>
                <a:ext cx="2619300" cy="2667000"/>
              </a:xfrm>
              <a:prstGeom prst="roundRect">
                <a:avLst>
                  <a:gd fmla="val 3636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27"/>
              <p:cNvSpPr txBox="1"/>
              <p:nvPr/>
            </p:nvSpPr>
            <p:spPr>
              <a:xfrm>
                <a:off x="457200" y="3524250"/>
                <a:ext cx="26193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38125" lIns="238125" spcFirstLastPara="1" rIns="238125" wrap="square" tIns="2381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000">
                    <a:solidFill>
                      <a:srgbClr val="D4AF3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groups</a:t>
                </a:r>
                <a:endParaRPr sz="4000">
                  <a:solidFill>
                    <a:srgbClr val="D4AF3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03366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Talent Gap</a:t>
                </a:r>
                <a:endParaRPr b="1" sz="1600">
                  <a:solidFill>
                    <a:srgbClr val="003366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50505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Heavy reliance on scarce, highly skilled CAD talent.</a:t>
                </a:r>
                <a:endParaRPr sz="1200">
                  <a:solidFill>
                    <a:srgbClr val="50505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62" name="Google Shape;162;p27"/>
            <p:cNvGrpSpPr/>
            <p:nvPr/>
          </p:nvGrpSpPr>
          <p:grpSpPr>
            <a:xfrm>
              <a:off x="3343275" y="3524250"/>
              <a:ext cx="2619300" cy="2667000"/>
              <a:chOff x="3343275" y="3524250"/>
              <a:chExt cx="2619300" cy="2667000"/>
            </a:xfrm>
          </p:grpSpPr>
          <p:sp>
            <p:nvSpPr>
              <p:cNvPr id="163" name="Google Shape;163;p27"/>
              <p:cNvSpPr/>
              <p:nvPr/>
            </p:nvSpPr>
            <p:spPr>
              <a:xfrm>
                <a:off x="3343275" y="3524250"/>
                <a:ext cx="2619300" cy="2667000"/>
              </a:xfrm>
              <a:prstGeom prst="roundRect">
                <a:avLst>
                  <a:gd fmla="val 3636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27"/>
              <p:cNvSpPr txBox="1"/>
              <p:nvPr/>
            </p:nvSpPr>
            <p:spPr>
              <a:xfrm>
                <a:off x="3343275" y="3524250"/>
                <a:ext cx="26193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38125" lIns="238125" spcFirstLastPara="1" rIns="238125" wrap="square" tIns="2381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000">
                    <a:solidFill>
                      <a:srgbClr val="D4AF3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trending_up</a:t>
                </a:r>
                <a:endParaRPr sz="4000">
                  <a:solidFill>
                    <a:srgbClr val="D4AF3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03366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Scalability</a:t>
                </a:r>
                <a:endParaRPr b="1" sz="1600">
                  <a:solidFill>
                    <a:srgbClr val="003366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50505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Limited capacity to scale for bespoke and custom orders.</a:t>
                </a:r>
                <a:endParaRPr sz="1200">
                  <a:solidFill>
                    <a:srgbClr val="50505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65" name="Google Shape;165;p27"/>
            <p:cNvGrpSpPr/>
            <p:nvPr/>
          </p:nvGrpSpPr>
          <p:grpSpPr>
            <a:xfrm>
              <a:off x="6229350" y="3524250"/>
              <a:ext cx="2619300" cy="2667000"/>
              <a:chOff x="6229350" y="3524250"/>
              <a:chExt cx="2619300" cy="2667000"/>
            </a:xfrm>
          </p:grpSpPr>
          <p:sp>
            <p:nvSpPr>
              <p:cNvPr id="166" name="Google Shape;166;p27"/>
              <p:cNvSpPr/>
              <p:nvPr/>
            </p:nvSpPr>
            <p:spPr>
              <a:xfrm>
                <a:off x="6229350" y="3524250"/>
                <a:ext cx="2619300" cy="2667000"/>
              </a:xfrm>
              <a:prstGeom prst="roundRect">
                <a:avLst>
                  <a:gd fmla="val 3636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27"/>
              <p:cNvSpPr txBox="1"/>
              <p:nvPr/>
            </p:nvSpPr>
            <p:spPr>
              <a:xfrm>
                <a:off x="6229350" y="3524250"/>
                <a:ext cx="26193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38125" lIns="238125" spcFirstLastPara="1" rIns="238125" wrap="square" tIns="2381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000">
                    <a:solidFill>
                      <a:srgbClr val="D4AF3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report_problem</a:t>
                </a:r>
                <a:endParaRPr sz="4000">
                  <a:solidFill>
                    <a:srgbClr val="D4AF3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03366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Quality Control</a:t>
                </a:r>
                <a:endParaRPr b="1" sz="1600">
                  <a:solidFill>
                    <a:srgbClr val="003366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50505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Inconsistent output quality leading to ~15% rework rates.</a:t>
                </a:r>
                <a:endParaRPr sz="1200">
                  <a:solidFill>
                    <a:srgbClr val="50505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68" name="Google Shape;168;p27"/>
            <p:cNvGrpSpPr/>
            <p:nvPr/>
          </p:nvGrpSpPr>
          <p:grpSpPr>
            <a:xfrm>
              <a:off x="9115425" y="3524250"/>
              <a:ext cx="2619300" cy="2667000"/>
              <a:chOff x="9115425" y="3524250"/>
              <a:chExt cx="2619300" cy="2667000"/>
            </a:xfrm>
          </p:grpSpPr>
          <p:sp>
            <p:nvSpPr>
              <p:cNvPr id="169" name="Google Shape;169;p27"/>
              <p:cNvSpPr/>
              <p:nvPr/>
            </p:nvSpPr>
            <p:spPr>
              <a:xfrm>
                <a:off x="9115425" y="3524250"/>
                <a:ext cx="2619300" cy="2667000"/>
              </a:xfrm>
              <a:prstGeom prst="roundRect">
                <a:avLst>
                  <a:gd fmla="val 3636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27"/>
              <p:cNvSpPr txBox="1"/>
              <p:nvPr/>
            </p:nvSpPr>
            <p:spPr>
              <a:xfrm>
                <a:off x="9115425" y="3524250"/>
                <a:ext cx="26193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38125" lIns="238125" spcFirstLastPara="1" rIns="238125" wrap="square" tIns="2381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000">
                    <a:solidFill>
                      <a:srgbClr val="D4AF3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speed</a:t>
                </a:r>
                <a:endParaRPr sz="4000">
                  <a:solidFill>
                    <a:srgbClr val="D4AF3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03366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Time-to-Market</a:t>
                </a:r>
                <a:endParaRPr b="1" sz="1600">
                  <a:solidFill>
                    <a:srgbClr val="003366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50505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Protracted development cycles hinder market agility.</a:t>
                </a:r>
                <a:endParaRPr sz="1200">
                  <a:solidFill>
                    <a:srgbClr val="50505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8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8"/>
          <p:cNvSpPr txBox="1"/>
          <p:nvPr/>
        </p:nvSpPr>
        <p:spPr>
          <a:xfrm>
            <a:off x="457200" y="0"/>
            <a:ext cx="112776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Target Users &amp; Success Criteria</a:t>
            </a:r>
            <a:endParaRPr b="1" sz="36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178" name="Google Shape;178;p28"/>
          <p:cNvGrpSpPr/>
          <p:nvPr/>
        </p:nvGrpSpPr>
        <p:grpSpPr>
          <a:xfrm>
            <a:off x="457200" y="1333500"/>
            <a:ext cx="5334000" cy="4572000"/>
            <a:chOff x="457200" y="1333500"/>
            <a:chExt cx="5334000" cy="4572000"/>
          </a:xfrm>
        </p:grpSpPr>
        <p:sp>
          <p:nvSpPr>
            <p:cNvPr id="179" name="Google Shape;179;p28"/>
            <p:cNvSpPr/>
            <p:nvPr/>
          </p:nvSpPr>
          <p:spPr>
            <a:xfrm>
              <a:off x="457200" y="1333500"/>
              <a:ext cx="5334000" cy="45720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8"/>
            <p:cNvSpPr txBox="1"/>
            <p:nvPr/>
          </p:nvSpPr>
          <p:spPr>
            <a:xfrm>
              <a:off x="838200" y="1619250"/>
              <a:ext cx="457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03366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Target Users</a:t>
              </a:r>
              <a:endParaRPr b="1" sz="2200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181" name="Google Shape;181;p28"/>
            <p:cNvSpPr txBox="1"/>
            <p:nvPr/>
          </p:nvSpPr>
          <p:spPr>
            <a:xfrm>
              <a:off x="838200" y="2190750"/>
              <a:ext cx="4572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D4AF3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business</a:t>
              </a:r>
              <a:r>
                <a:rPr b="0" lang="en-US" sz="1400">
                  <a:solidFill>
                    <a:srgbClr val="50505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High-end jewelry brands needing rapid prototyping</a:t>
              </a:r>
              <a:endParaRPr b="0" sz="1400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D4AF3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person_outline</a:t>
              </a:r>
              <a:r>
                <a:rPr b="0" lang="en-US" sz="1400">
                  <a:solidFill>
                    <a:srgbClr val="50505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Custom order specialists handling bespoke designs</a:t>
              </a:r>
              <a:endParaRPr b="0" sz="1400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D4AF3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architecture</a:t>
              </a:r>
              <a:r>
                <a:rPr b="0" lang="en-US" sz="1400">
                  <a:solidFill>
                    <a:srgbClr val="50505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CAD designers seeking automation assistance</a:t>
              </a:r>
              <a:endParaRPr b="0" sz="1400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D4AF3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precision_manufacturing</a:t>
              </a:r>
              <a:r>
                <a:rPr b="0" lang="en-US" sz="1400">
                  <a:solidFill>
                    <a:srgbClr val="50505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Manufacturing teams needing consistent output</a:t>
              </a:r>
              <a:endParaRPr b="0" sz="1400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82" name="Google Shape;182;p28"/>
          <p:cNvGrpSpPr/>
          <p:nvPr/>
        </p:nvGrpSpPr>
        <p:grpSpPr>
          <a:xfrm>
            <a:off x="6400800" y="1333500"/>
            <a:ext cx="5334000" cy="4572000"/>
            <a:chOff x="6400800" y="1333500"/>
            <a:chExt cx="5334000" cy="4572000"/>
          </a:xfrm>
        </p:grpSpPr>
        <p:sp>
          <p:nvSpPr>
            <p:cNvPr id="183" name="Google Shape;183;p28"/>
            <p:cNvSpPr/>
            <p:nvPr/>
          </p:nvSpPr>
          <p:spPr>
            <a:xfrm>
              <a:off x="6400800" y="1333500"/>
              <a:ext cx="5334000" cy="45720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8"/>
            <p:cNvSpPr txBox="1"/>
            <p:nvPr/>
          </p:nvSpPr>
          <p:spPr>
            <a:xfrm>
              <a:off x="6781800" y="1619250"/>
              <a:ext cx="457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03366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Success Criteria</a:t>
              </a:r>
              <a:endParaRPr b="1" sz="2200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185" name="Google Shape;185;p28"/>
            <p:cNvSpPr txBox="1"/>
            <p:nvPr/>
          </p:nvSpPr>
          <p:spPr>
            <a:xfrm>
              <a:off x="6781800" y="2190750"/>
              <a:ext cx="4572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2E7D3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400">
                  <a:solidFill>
                    <a:srgbClr val="50505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Process SVG to STL automatically</a:t>
              </a:r>
              <a:endParaRPr b="0" sz="1400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2E7D3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400">
                  <a:solidFill>
                    <a:srgbClr val="50505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Maintain ±0.1mm precision</a:t>
              </a:r>
              <a:endParaRPr b="0" sz="1400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2E7D3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400">
                  <a:solidFill>
                    <a:srgbClr val="50505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Generate casting-ready models</a:t>
              </a:r>
              <a:endParaRPr b="0" sz="1400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2E7D3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400">
                  <a:solidFill>
                    <a:srgbClr val="50505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Reduce time to under 5 minutes</a:t>
              </a:r>
              <a:endParaRPr b="0" sz="1400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2E7D3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400">
                  <a:solidFill>
                    <a:srgbClr val="50505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Support rings, pendants, bracelets</a:t>
              </a:r>
              <a:endParaRPr b="0" sz="1400">
                <a:solidFill>
                  <a:srgbClr val="50505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/>
        </p:nvSpPr>
        <p:spPr>
          <a:xfrm>
            <a:off x="457200" y="381000"/>
            <a:ext cx="109728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Solution Architecture</a:t>
            </a:r>
            <a:endParaRPr b="1" sz="36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9"/>
          <p:cNvSpPr txBox="1"/>
          <p:nvPr/>
        </p:nvSpPr>
        <p:spPr>
          <a:xfrm>
            <a:off x="457200" y="1143000"/>
            <a:ext cx="11277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Modular Pipeline Design (5 Stages)</a:t>
            </a:r>
            <a:endParaRPr b="1" sz="2000">
              <a:solidFill>
                <a:srgbClr val="505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" name="Google Shape;192;p29"/>
          <p:cNvGrpSpPr/>
          <p:nvPr/>
        </p:nvGrpSpPr>
        <p:grpSpPr>
          <a:xfrm>
            <a:off x="457200" y="1619250"/>
            <a:ext cx="2095500" cy="1714500"/>
            <a:chOff x="457200" y="1619250"/>
            <a:chExt cx="2095500" cy="1714500"/>
          </a:xfrm>
        </p:grpSpPr>
        <p:sp>
          <p:nvSpPr>
            <p:cNvPr id="193" name="Google Shape;193;p29"/>
            <p:cNvSpPr/>
            <p:nvPr/>
          </p:nvSpPr>
          <p:spPr>
            <a:xfrm>
              <a:off x="457200" y="1619250"/>
              <a:ext cx="2095500" cy="1714500"/>
            </a:xfrm>
            <a:prstGeom prst="roundRect">
              <a:avLst>
                <a:gd fmla="val 4444" name="adj"/>
              </a:avLst>
            </a:prstGeom>
            <a:solidFill>
              <a:srgbClr val="F8F9FA"/>
            </a:solidFill>
            <a:ln cap="flat" cmpd="sng" w="19050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9"/>
            <p:cNvSpPr txBox="1"/>
            <p:nvPr/>
          </p:nvSpPr>
          <p:spPr>
            <a:xfrm>
              <a:off x="457200" y="1619250"/>
              <a:ext cx="2095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01. Input Processor</a:t>
              </a:r>
              <a:endParaRPr b="1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505050"/>
                  </a:solidFill>
                  <a:latin typeface="Calibri"/>
                  <a:ea typeface="Calibri"/>
                  <a:cs typeface="Calibri"/>
                  <a:sym typeface="Calibri"/>
                </a:rPr>
                <a:t>Parse SVG, extract curves &amp; dimensions</a:t>
              </a:r>
              <a:endParaRPr sz="1100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5" name="Google Shape;19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2700" y="2409825"/>
            <a:ext cx="381000" cy="13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" name="Google Shape;196;p29"/>
          <p:cNvGrpSpPr/>
          <p:nvPr/>
        </p:nvGrpSpPr>
        <p:grpSpPr>
          <a:xfrm>
            <a:off x="2743200" y="1619250"/>
            <a:ext cx="2095500" cy="1714500"/>
            <a:chOff x="2743200" y="1619250"/>
            <a:chExt cx="2095500" cy="1714500"/>
          </a:xfrm>
        </p:grpSpPr>
        <p:sp>
          <p:nvSpPr>
            <p:cNvPr id="197" name="Google Shape;197;p29"/>
            <p:cNvSpPr/>
            <p:nvPr/>
          </p:nvSpPr>
          <p:spPr>
            <a:xfrm>
              <a:off x="2743200" y="1619250"/>
              <a:ext cx="2095500" cy="1714500"/>
            </a:xfrm>
            <a:prstGeom prst="roundRect">
              <a:avLst>
                <a:gd fmla="val 4444" name="adj"/>
              </a:avLst>
            </a:prstGeom>
            <a:solidFill>
              <a:srgbClr val="F8F9FA"/>
            </a:solidFill>
            <a:ln cap="flat" cmpd="sng" w="19050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9"/>
            <p:cNvSpPr txBox="1"/>
            <p:nvPr/>
          </p:nvSpPr>
          <p:spPr>
            <a:xfrm>
              <a:off x="2743200" y="1619250"/>
              <a:ext cx="2095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02. Geometry Reconstructor</a:t>
              </a:r>
              <a:endParaRPr b="1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505050"/>
                  </a:solidFill>
                  <a:latin typeface="Calibri"/>
                  <a:ea typeface="Calibri"/>
                  <a:cs typeface="Calibri"/>
                  <a:sym typeface="Calibri"/>
                </a:rPr>
                <a:t>Convert 2D to 3D (extrude/revolve/loft)</a:t>
              </a:r>
              <a:endParaRPr sz="1100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9" name="Google Shape;19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8700" y="2466975"/>
            <a:ext cx="1905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29"/>
          <p:cNvGrpSpPr/>
          <p:nvPr/>
        </p:nvGrpSpPr>
        <p:grpSpPr>
          <a:xfrm>
            <a:off x="5029200" y="1619250"/>
            <a:ext cx="2095500" cy="1714500"/>
            <a:chOff x="5029200" y="1619250"/>
            <a:chExt cx="2095500" cy="1714500"/>
          </a:xfrm>
        </p:grpSpPr>
        <p:sp>
          <p:nvSpPr>
            <p:cNvPr id="201" name="Google Shape;201;p29"/>
            <p:cNvSpPr/>
            <p:nvPr/>
          </p:nvSpPr>
          <p:spPr>
            <a:xfrm>
              <a:off x="5029200" y="1619250"/>
              <a:ext cx="2095500" cy="1714500"/>
            </a:xfrm>
            <a:prstGeom prst="roundRect">
              <a:avLst>
                <a:gd fmla="val 4444" name="adj"/>
              </a:avLst>
            </a:prstGeom>
            <a:solidFill>
              <a:srgbClr val="F8F9FA"/>
            </a:solidFill>
            <a:ln cap="flat" cmpd="sng" w="19050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9"/>
            <p:cNvSpPr txBox="1"/>
            <p:nvPr/>
          </p:nvSpPr>
          <p:spPr>
            <a:xfrm>
              <a:off x="5029200" y="1619250"/>
              <a:ext cx="2095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03. Feature Modeler</a:t>
              </a:r>
              <a:endParaRPr b="1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505050"/>
                  </a:solidFill>
                  <a:latin typeface="Calibri"/>
                  <a:ea typeface="Calibri"/>
                  <a:cs typeface="Calibri"/>
                  <a:sym typeface="Calibri"/>
                </a:rPr>
                <a:t>Add stones, prongs, mounts</a:t>
              </a:r>
              <a:endParaRPr sz="1100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3" name="Google Shape;20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4700" y="2466975"/>
            <a:ext cx="1905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" name="Google Shape;204;p29"/>
          <p:cNvGrpSpPr/>
          <p:nvPr/>
        </p:nvGrpSpPr>
        <p:grpSpPr>
          <a:xfrm>
            <a:off x="7315200" y="1619250"/>
            <a:ext cx="2095500" cy="1714500"/>
            <a:chOff x="7315200" y="1619250"/>
            <a:chExt cx="2095500" cy="1714500"/>
          </a:xfrm>
        </p:grpSpPr>
        <p:sp>
          <p:nvSpPr>
            <p:cNvPr id="205" name="Google Shape;205;p29"/>
            <p:cNvSpPr/>
            <p:nvPr/>
          </p:nvSpPr>
          <p:spPr>
            <a:xfrm>
              <a:off x="7315200" y="1619250"/>
              <a:ext cx="2095500" cy="1714500"/>
            </a:xfrm>
            <a:prstGeom prst="roundRect">
              <a:avLst>
                <a:gd fmla="val 4444" name="adj"/>
              </a:avLst>
            </a:prstGeom>
            <a:solidFill>
              <a:srgbClr val="F8F9FA"/>
            </a:solidFill>
            <a:ln cap="flat" cmpd="sng" w="19050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9"/>
            <p:cNvSpPr txBox="1"/>
            <p:nvPr/>
          </p:nvSpPr>
          <p:spPr>
            <a:xfrm>
              <a:off x="7315200" y="1619250"/>
              <a:ext cx="2095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04. Constraint Handler</a:t>
              </a:r>
              <a:endParaRPr b="1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505050"/>
                  </a:solidFill>
                  <a:latin typeface="Calibri"/>
                  <a:ea typeface="Calibri"/>
                  <a:cs typeface="Calibri"/>
                  <a:sym typeface="Calibri"/>
                </a:rPr>
                <a:t>Validate weight, thickness, quality</a:t>
              </a:r>
              <a:endParaRPr sz="1100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29"/>
          <p:cNvGrpSpPr/>
          <p:nvPr/>
        </p:nvGrpSpPr>
        <p:grpSpPr>
          <a:xfrm>
            <a:off x="9601200" y="1619250"/>
            <a:ext cx="2095500" cy="1714500"/>
            <a:chOff x="9601200" y="1619250"/>
            <a:chExt cx="2095500" cy="1714500"/>
          </a:xfrm>
        </p:grpSpPr>
        <p:sp>
          <p:nvSpPr>
            <p:cNvPr id="208" name="Google Shape;208;p29"/>
            <p:cNvSpPr/>
            <p:nvPr/>
          </p:nvSpPr>
          <p:spPr>
            <a:xfrm>
              <a:off x="9601200" y="1619250"/>
              <a:ext cx="2095500" cy="1714500"/>
            </a:xfrm>
            <a:prstGeom prst="roundRect">
              <a:avLst>
                <a:gd fmla="val 4444" name="adj"/>
              </a:avLst>
            </a:prstGeom>
            <a:solidFill>
              <a:srgbClr val="F8F9FA"/>
            </a:solidFill>
            <a:ln cap="flat" cmpd="sng" w="19050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9"/>
            <p:cNvSpPr txBox="1"/>
            <p:nvPr/>
          </p:nvSpPr>
          <p:spPr>
            <a:xfrm>
              <a:off x="9601200" y="1619250"/>
              <a:ext cx="2095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05. Output Generator</a:t>
              </a:r>
              <a:endParaRPr b="1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505050"/>
                  </a:solidFill>
                  <a:latin typeface="Calibri"/>
                  <a:ea typeface="Calibri"/>
                  <a:cs typeface="Calibri"/>
                  <a:sym typeface="Calibri"/>
                </a:rPr>
                <a:t>Export STL/OBJ/3DM files</a:t>
              </a:r>
              <a:endParaRPr sz="1100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29"/>
          <p:cNvGrpSpPr/>
          <p:nvPr/>
        </p:nvGrpSpPr>
        <p:grpSpPr>
          <a:xfrm>
            <a:off x="457200" y="4000500"/>
            <a:ext cx="11277600" cy="2286000"/>
            <a:chOff x="457200" y="4000500"/>
            <a:chExt cx="11277600" cy="2286000"/>
          </a:xfrm>
        </p:grpSpPr>
        <p:sp>
          <p:nvSpPr>
            <p:cNvPr id="211" name="Google Shape;211;p29"/>
            <p:cNvSpPr/>
            <p:nvPr/>
          </p:nvSpPr>
          <p:spPr>
            <a:xfrm>
              <a:off x="457200" y="4000500"/>
              <a:ext cx="11277600" cy="2286000"/>
            </a:xfrm>
            <a:prstGeom prst="roundRect">
              <a:avLst>
                <a:gd fmla="val 5000" name="adj"/>
              </a:avLst>
            </a:prstGeom>
            <a:solidFill>
              <a:srgbClr val="E8F0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9"/>
            <p:cNvSpPr txBox="1"/>
            <p:nvPr/>
          </p:nvSpPr>
          <p:spPr>
            <a:xfrm>
              <a:off x="742950" y="4191000"/>
              <a:ext cx="107061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Key Design Principles</a:t>
              </a:r>
              <a:endParaRPr b="1" sz="2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505050"/>
                </a:buClr>
                <a:buSzPts val="1600"/>
                <a:buFont typeface="Calibri"/>
                <a:buChar char="●"/>
              </a:pPr>
              <a:r>
                <a:rPr b="1" lang="en-US" sz="16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Configuration-driven processing:</a:t>
              </a:r>
              <a:r>
                <a:rPr lang="en-US" sz="1600">
                  <a:solidFill>
                    <a:srgbClr val="505050"/>
                  </a:solidFill>
                  <a:latin typeface="Calibri"/>
                  <a:ea typeface="Calibri"/>
                  <a:cs typeface="Calibri"/>
                  <a:sym typeface="Calibri"/>
                </a:rPr>
                <a:t> Flexible adjustments via parameters.</a:t>
              </a:r>
              <a:endParaRPr sz="1600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505050"/>
                </a:buClr>
                <a:buSzPts val="1600"/>
                <a:buFont typeface="Calibri"/>
                <a:buChar char="●"/>
              </a:pPr>
              <a:r>
                <a:rPr b="1" lang="en-US" sz="16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Graceful degradation:</a:t>
              </a:r>
              <a:r>
                <a:rPr lang="en-US" sz="1600">
                  <a:solidFill>
                    <a:srgbClr val="505050"/>
                  </a:solidFill>
                  <a:latin typeface="Calibri"/>
                  <a:ea typeface="Calibri"/>
                  <a:cs typeface="Calibri"/>
                  <a:sym typeface="Calibri"/>
                </a:rPr>
                <a:t> System remains functional with sensible defaults.</a:t>
              </a:r>
              <a:endParaRPr sz="1600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505050"/>
                </a:buClr>
                <a:buSzPts val="1600"/>
                <a:buFont typeface="Calibri"/>
                <a:buChar char="●"/>
              </a:pPr>
              <a:r>
                <a:rPr b="1" lang="en-US" sz="16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Manufacturing-first validation:</a:t>
              </a:r>
              <a:r>
                <a:rPr lang="en-US" sz="1600">
                  <a:solidFill>
                    <a:srgbClr val="505050"/>
                  </a:solidFill>
                  <a:latin typeface="Calibri"/>
                  <a:ea typeface="Calibri"/>
                  <a:cs typeface="Calibri"/>
                  <a:sym typeface="Calibri"/>
                </a:rPr>
                <a:t> Ensuring output is always casting-ready.</a:t>
              </a:r>
              <a:endParaRPr sz="1600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0"/>
          <p:cNvSpPr txBox="1"/>
          <p:nvPr/>
        </p:nvSpPr>
        <p:spPr>
          <a:xfrm>
            <a:off x="457200" y="274320"/>
            <a:ext cx="109728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Implementation Overview</a:t>
            </a:r>
            <a:endParaRPr b="1" sz="36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8" name="Google Shape;218;p30"/>
          <p:cNvGrpSpPr/>
          <p:nvPr/>
        </p:nvGrpSpPr>
        <p:grpSpPr>
          <a:xfrm>
            <a:off x="457200" y="1190625"/>
            <a:ext cx="11277600" cy="571500"/>
            <a:chOff x="457200" y="1190625"/>
            <a:chExt cx="11277600" cy="571500"/>
          </a:xfrm>
        </p:grpSpPr>
        <p:sp>
          <p:nvSpPr>
            <p:cNvPr id="219" name="Google Shape;219;p30"/>
            <p:cNvSpPr/>
            <p:nvPr/>
          </p:nvSpPr>
          <p:spPr>
            <a:xfrm>
              <a:off x="457200" y="1190625"/>
              <a:ext cx="11277600" cy="571500"/>
            </a:xfrm>
            <a:prstGeom prst="roundRect">
              <a:avLst>
                <a:gd fmla="val 16666" name="adj"/>
              </a:avLst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30"/>
            <p:cNvSpPr txBox="1"/>
            <p:nvPr/>
          </p:nvSpPr>
          <p:spPr>
            <a:xfrm>
              <a:off x="457200" y="1190625"/>
              <a:ext cx="11277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Total Codebase: ~1,600 lines of Python</a:t>
              </a:r>
              <a:endParaRPr b="1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30"/>
          <p:cNvGrpSpPr/>
          <p:nvPr/>
        </p:nvGrpSpPr>
        <p:grpSpPr>
          <a:xfrm>
            <a:off x="457200" y="1952625"/>
            <a:ext cx="6477000" cy="4572000"/>
            <a:chOff x="457200" y="1952625"/>
            <a:chExt cx="6477000" cy="4572000"/>
          </a:xfrm>
        </p:grpSpPr>
        <p:sp>
          <p:nvSpPr>
            <p:cNvPr id="222" name="Google Shape;222;p30"/>
            <p:cNvSpPr/>
            <p:nvPr/>
          </p:nvSpPr>
          <p:spPr>
            <a:xfrm>
              <a:off x="457200" y="1952625"/>
              <a:ext cx="6477000" cy="45720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0"/>
            <p:cNvSpPr txBox="1"/>
            <p:nvPr/>
          </p:nvSpPr>
          <p:spPr>
            <a:xfrm>
              <a:off x="647700" y="2143125"/>
              <a:ext cx="60960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Module Breakdown</a:t>
              </a:r>
              <a:endParaRPr b="1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D4AF37"/>
                  </a:solidFill>
                  <a:latin typeface="Calibri"/>
                  <a:ea typeface="Calibri"/>
                  <a:cs typeface="Calibri"/>
                  <a:sym typeface="Calibri"/>
                </a:rPr>
                <a:t>•</a:t>
              </a:r>
              <a:r>
                <a:rPr b="1" lang="en-US" sz="18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input_processor.py (350 LOC)</a:t>
              </a:r>
              <a:br>
                <a:rPr b="1" lang="en-US" sz="18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lang="en-US" sz="1400">
                  <a:solidFill>
                    <a:srgbClr val="505050"/>
                  </a:solidFill>
                  <a:latin typeface="Calibri"/>
                  <a:ea typeface="Calibri"/>
                  <a:cs typeface="Calibri"/>
                  <a:sym typeface="Calibri"/>
                </a:rPr>
                <a:t>SVG parsing, curve extraction</a:t>
              </a:r>
              <a:endParaRPr b="1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D4AF37"/>
                  </a:solidFill>
                  <a:latin typeface="Calibri"/>
                  <a:ea typeface="Calibri"/>
                  <a:cs typeface="Calibri"/>
                  <a:sym typeface="Calibri"/>
                </a:rPr>
                <a:t>•</a:t>
              </a:r>
              <a:r>
                <a:rPr b="1" lang="en-US" sz="18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geometry_reconstructor.py (400 LOC)</a:t>
              </a:r>
              <a:br>
                <a:rPr b="1" lang="en-US" sz="18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lang="en-US" sz="1400">
                  <a:solidFill>
                    <a:srgbClr val="505050"/>
                  </a:solidFill>
                  <a:latin typeface="Calibri"/>
                  <a:ea typeface="Calibri"/>
                  <a:cs typeface="Calibri"/>
                  <a:sym typeface="Calibri"/>
                </a:rPr>
                <a:t>3D mesh generation</a:t>
              </a:r>
              <a:endParaRPr b="1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D4AF37"/>
                  </a:solidFill>
                  <a:latin typeface="Calibri"/>
                  <a:ea typeface="Calibri"/>
                  <a:cs typeface="Calibri"/>
                  <a:sym typeface="Calibri"/>
                </a:rPr>
                <a:t>•</a:t>
              </a:r>
              <a:r>
                <a:rPr b="1" lang="en-US" sz="18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feature_modeler.py (350 LOC)</a:t>
              </a:r>
              <a:br>
                <a:rPr b="1" lang="en-US" sz="18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lang="en-US" sz="1400">
                  <a:solidFill>
                    <a:srgbClr val="505050"/>
                  </a:solidFill>
                  <a:latin typeface="Calibri"/>
                  <a:ea typeface="Calibri"/>
                  <a:cs typeface="Calibri"/>
                  <a:sym typeface="Calibri"/>
                </a:rPr>
                <a:t>Stone &amp; prong modeling</a:t>
              </a:r>
              <a:endParaRPr b="1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D4AF37"/>
                  </a:solidFill>
                  <a:latin typeface="Calibri"/>
                  <a:ea typeface="Calibri"/>
                  <a:cs typeface="Calibri"/>
                  <a:sym typeface="Calibri"/>
                </a:rPr>
                <a:t>•</a:t>
              </a:r>
              <a:r>
                <a:rPr b="1" lang="en-US" sz="18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constraint_handler.py (250 LOC)</a:t>
              </a:r>
              <a:br>
                <a:rPr b="1" lang="en-US" sz="18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lang="en-US" sz="1400">
                  <a:solidFill>
                    <a:srgbClr val="505050"/>
                  </a:solidFill>
                  <a:latin typeface="Calibri"/>
                  <a:ea typeface="Calibri"/>
                  <a:cs typeface="Calibri"/>
                  <a:sym typeface="Calibri"/>
                </a:rPr>
                <a:t>Manufacturing validation</a:t>
              </a:r>
              <a:endParaRPr b="1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D4AF37"/>
                  </a:solidFill>
                  <a:latin typeface="Calibri"/>
                  <a:ea typeface="Calibri"/>
                  <a:cs typeface="Calibri"/>
                  <a:sym typeface="Calibri"/>
                </a:rPr>
                <a:t>•</a:t>
              </a:r>
              <a:r>
                <a:rPr b="1" lang="en-US" sz="18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output_generator.py (250 LOC)</a:t>
              </a:r>
              <a:br>
                <a:rPr b="1" lang="en-US" sz="18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lang="en-US" sz="1400">
                  <a:solidFill>
                    <a:srgbClr val="505050"/>
                  </a:solidFill>
                  <a:latin typeface="Calibri"/>
                  <a:ea typeface="Calibri"/>
                  <a:cs typeface="Calibri"/>
                  <a:sym typeface="Calibri"/>
                </a:rPr>
                <a:t>STL/OBJ export</a:t>
              </a:r>
              <a:endParaRPr b="1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30"/>
          <p:cNvGrpSpPr/>
          <p:nvPr/>
        </p:nvGrpSpPr>
        <p:grpSpPr>
          <a:xfrm>
            <a:off x="7124700" y="1952625"/>
            <a:ext cx="4610100" cy="4572000"/>
            <a:chOff x="7124700" y="1952625"/>
            <a:chExt cx="4610100" cy="4572000"/>
          </a:xfrm>
        </p:grpSpPr>
        <p:sp>
          <p:nvSpPr>
            <p:cNvPr id="225" name="Google Shape;225;p30"/>
            <p:cNvSpPr/>
            <p:nvPr/>
          </p:nvSpPr>
          <p:spPr>
            <a:xfrm>
              <a:off x="7124700" y="1952625"/>
              <a:ext cx="4610100" cy="4572000"/>
            </a:xfrm>
            <a:prstGeom prst="roundRect">
              <a:avLst>
                <a:gd fmla="val 2500" name="adj"/>
              </a:avLst>
            </a:prstGeom>
            <a:solidFill>
              <a:srgbClr val="E8F0FE"/>
            </a:solidFill>
            <a:ln cap="flat" cmpd="sng" w="9525">
              <a:solidFill>
                <a:srgbClr val="BBD2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0"/>
            <p:cNvSpPr txBox="1"/>
            <p:nvPr/>
          </p:nvSpPr>
          <p:spPr>
            <a:xfrm>
              <a:off x="7315200" y="2143125"/>
              <a:ext cx="42291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Key Features</a:t>
              </a:r>
              <a:endParaRPr b="1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2E7D3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800">
                  <a:solidFill>
                    <a:srgbClr val="505050"/>
                  </a:solidFill>
                  <a:latin typeface="Calibri"/>
                  <a:ea typeface="Calibri"/>
                  <a:cs typeface="Calibri"/>
                  <a:sym typeface="Calibri"/>
                </a:rPr>
                <a:t>Round &amp; princess cut stones</a:t>
              </a:r>
              <a:endParaRPr b="1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2E7D3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800">
                  <a:solidFill>
                    <a:srgbClr val="505050"/>
                  </a:solidFill>
                  <a:latin typeface="Calibri"/>
                  <a:ea typeface="Calibri"/>
                  <a:cs typeface="Calibri"/>
                  <a:sym typeface="Calibri"/>
                </a:rPr>
                <a:t>4-prong and 6-prong settings</a:t>
              </a:r>
              <a:endParaRPr b="1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2E7D3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800">
                  <a:solidFill>
                    <a:srgbClr val="505050"/>
                  </a:solidFill>
                  <a:latin typeface="Calibri"/>
                  <a:ea typeface="Calibri"/>
                  <a:cs typeface="Calibri"/>
                  <a:sym typeface="Calibri"/>
                </a:rPr>
                <a:t>Bezel and pave settings</a:t>
              </a:r>
              <a:endParaRPr b="1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2E7D3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800">
                  <a:solidFill>
                    <a:srgbClr val="505050"/>
                  </a:solidFill>
                  <a:latin typeface="Calibri"/>
                  <a:ea typeface="Calibri"/>
                  <a:cs typeface="Calibri"/>
                  <a:sym typeface="Calibri"/>
                </a:rPr>
                <a:t>Weight estimation (metal)</a:t>
              </a:r>
              <a:endParaRPr b="1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2E7D3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800">
                  <a:solidFill>
                    <a:srgbClr val="505050"/>
                  </a:solidFill>
                  <a:latin typeface="Calibri"/>
                  <a:ea typeface="Calibri"/>
                  <a:cs typeface="Calibri"/>
                  <a:sym typeface="Calibri"/>
                </a:rPr>
                <a:t>Wall thickness validation</a:t>
              </a:r>
              <a:endParaRPr b="1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/>
          <p:nvPr/>
        </p:nvSpPr>
        <p:spPr>
          <a:xfrm>
            <a:off x="457200" y="274320"/>
            <a:ext cx="109728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Data Flow Architecture</a:t>
            </a:r>
            <a:endParaRPr b="1" sz="36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2" name="Google Shape;232;p31"/>
          <p:cNvGrpSpPr/>
          <p:nvPr/>
        </p:nvGrpSpPr>
        <p:grpSpPr>
          <a:xfrm>
            <a:off x="571500" y="1333500"/>
            <a:ext cx="2095500" cy="762000"/>
            <a:chOff x="571500" y="1333500"/>
            <a:chExt cx="2095500" cy="762000"/>
          </a:xfrm>
        </p:grpSpPr>
        <p:sp>
          <p:nvSpPr>
            <p:cNvPr id="233" name="Google Shape;233;p31"/>
            <p:cNvSpPr/>
            <p:nvPr/>
          </p:nvSpPr>
          <p:spPr>
            <a:xfrm>
              <a:off x="571500" y="1333500"/>
              <a:ext cx="2095500" cy="762000"/>
            </a:xfrm>
            <a:prstGeom prst="roundRect">
              <a:avLst>
                <a:gd fmla="val 12500" name="adj"/>
              </a:avLst>
            </a:prstGeom>
            <a:solidFill>
              <a:srgbClr val="E2E8F0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1"/>
            <p:cNvSpPr txBox="1"/>
            <p:nvPr/>
          </p:nvSpPr>
          <p:spPr>
            <a:xfrm>
              <a:off x="571500" y="133350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SVG File</a:t>
              </a:r>
              <a:endParaRPr b="1" sz="1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5" name="Google Shape;23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2100" y="2095500"/>
            <a:ext cx="114300" cy="261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31"/>
          <p:cNvGrpSpPr/>
          <p:nvPr/>
        </p:nvGrpSpPr>
        <p:grpSpPr>
          <a:xfrm>
            <a:off x="571500" y="2333625"/>
            <a:ext cx="2667000" cy="952500"/>
            <a:chOff x="571500" y="2333625"/>
            <a:chExt cx="2667000" cy="952500"/>
          </a:xfrm>
        </p:grpSpPr>
        <p:sp>
          <p:nvSpPr>
            <p:cNvPr id="237" name="Google Shape;237;p31"/>
            <p:cNvSpPr/>
            <p:nvPr/>
          </p:nvSpPr>
          <p:spPr>
            <a:xfrm>
              <a:off x="571500" y="2333625"/>
              <a:ext cx="2667000" cy="9525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1"/>
            <p:cNvSpPr txBox="1"/>
            <p:nvPr/>
          </p:nvSpPr>
          <p:spPr>
            <a:xfrm>
              <a:off x="714375" y="2333625"/>
              <a:ext cx="2381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InputProcessor</a:t>
              </a:r>
              <a:endParaRPr b="1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curves[], stones[], dimensions{}, symmetry{}</a:t>
              </a:r>
              <a:endParaRPr b="0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9" name="Google Shape;23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7850" y="3286125"/>
            <a:ext cx="114300" cy="261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" name="Google Shape;240;p31"/>
          <p:cNvGrpSpPr/>
          <p:nvPr/>
        </p:nvGrpSpPr>
        <p:grpSpPr>
          <a:xfrm>
            <a:off x="571500" y="3524250"/>
            <a:ext cx="2667000" cy="952500"/>
            <a:chOff x="571500" y="3524250"/>
            <a:chExt cx="2667000" cy="952500"/>
          </a:xfrm>
        </p:grpSpPr>
        <p:sp>
          <p:nvSpPr>
            <p:cNvPr id="241" name="Google Shape;241;p31"/>
            <p:cNvSpPr/>
            <p:nvPr/>
          </p:nvSpPr>
          <p:spPr>
            <a:xfrm>
              <a:off x="571500" y="3524250"/>
              <a:ext cx="2667000" cy="9525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1"/>
            <p:cNvSpPr txBox="1"/>
            <p:nvPr/>
          </p:nvSpPr>
          <p:spPr>
            <a:xfrm>
              <a:off x="714375" y="3524250"/>
              <a:ext cx="2381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GeometryReconstructor</a:t>
              </a:r>
              <a:endParaRPr b="1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vertices[], faces[], normals[]</a:t>
              </a:r>
              <a:endParaRPr b="0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3" name="Google Shape;24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8500" y="3943350"/>
            <a:ext cx="404700" cy="1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4" name="Google Shape;244;p31"/>
          <p:cNvGrpSpPr/>
          <p:nvPr/>
        </p:nvGrpSpPr>
        <p:grpSpPr>
          <a:xfrm>
            <a:off x="3619500" y="3524250"/>
            <a:ext cx="2667000" cy="952500"/>
            <a:chOff x="3619500" y="3524250"/>
            <a:chExt cx="2667000" cy="952500"/>
          </a:xfrm>
        </p:grpSpPr>
        <p:sp>
          <p:nvSpPr>
            <p:cNvPr id="245" name="Google Shape;245;p31"/>
            <p:cNvSpPr/>
            <p:nvPr/>
          </p:nvSpPr>
          <p:spPr>
            <a:xfrm>
              <a:off x="3619500" y="3524250"/>
              <a:ext cx="2667000" cy="9525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1"/>
            <p:cNvSpPr txBox="1"/>
            <p:nvPr/>
          </p:nvSpPr>
          <p:spPr>
            <a:xfrm>
              <a:off x="3762375" y="3524250"/>
              <a:ext cx="2381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FeatureModeler</a:t>
              </a:r>
              <a:endParaRPr b="1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+ stones + prongs + mounts</a:t>
              </a:r>
              <a:endParaRPr b="0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7" name="Google Shape;24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943350"/>
            <a:ext cx="404700" cy="1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31"/>
          <p:cNvGrpSpPr/>
          <p:nvPr/>
        </p:nvGrpSpPr>
        <p:grpSpPr>
          <a:xfrm>
            <a:off x="6667500" y="3524250"/>
            <a:ext cx="2667000" cy="952500"/>
            <a:chOff x="6667500" y="3524250"/>
            <a:chExt cx="2667000" cy="952500"/>
          </a:xfrm>
        </p:grpSpPr>
        <p:sp>
          <p:nvSpPr>
            <p:cNvPr id="249" name="Google Shape;249;p31"/>
            <p:cNvSpPr/>
            <p:nvPr/>
          </p:nvSpPr>
          <p:spPr>
            <a:xfrm>
              <a:off x="6667500" y="3524250"/>
              <a:ext cx="2667000" cy="9525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1"/>
            <p:cNvSpPr txBox="1"/>
            <p:nvPr/>
          </p:nvSpPr>
          <p:spPr>
            <a:xfrm>
              <a:off x="6810375" y="3524250"/>
              <a:ext cx="2381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ConstraintHandler</a:t>
              </a:r>
              <a:endParaRPr b="1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validate → weight estimate, thickness check</a:t>
              </a:r>
              <a:endParaRPr b="0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1" name="Google Shape;25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3850" y="4476750"/>
            <a:ext cx="114300" cy="261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2" name="Google Shape;252;p31"/>
          <p:cNvGrpSpPr/>
          <p:nvPr/>
        </p:nvGrpSpPr>
        <p:grpSpPr>
          <a:xfrm>
            <a:off x="6667500" y="4714875"/>
            <a:ext cx="2667000" cy="952500"/>
            <a:chOff x="6667500" y="4714875"/>
            <a:chExt cx="2667000" cy="952500"/>
          </a:xfrm>
        </p:grpSpPr>
        <p:sp>
          <p:nvSpPr>
            <p:cNvPr id="253" name="Google Shape;253;p31"/>
            <p:cNvSpPr/>
            <p:nvPr/>
          </p:nvSpPr>
          <p:spPr>
            <a:xfrm>
              <a:off x="6667500" y="4714875"/>
              <a:ext cx="2667000" cy="9525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00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1"/>
            <p:cNvSpPr txBox="1"/>
            <p:nvPr/>
          </p:nvSpPr>
          <p:spPr>
            <a:xfrm>
              <a:off x="6810375" y="4714875"/>
              <a:ext cx="2381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OutputGenerator</a:t>
              </a:r>
              <a:endParaRPr b="1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model.stl + validation_report.txt</a:t>
              </a:r>
              <a:endParaRPr b="0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p31"/>
          <p:cNvGrpSpPr/>
          <p:nvPr/>
        </p:nvGrpSpPr>
        <p:grpSpPr>
          <a:xfrm>
            <a:off x="571500" y="6096000"/>
            <a:ext cx="11049000" cy="381000"/>
            <a:chOff x="571500" y="6096000"/>
            <a:chExt cx="11049000" cy="381000"/>
          </a:xfrm>
        </p:grpSpPr>
        <p:sp>
          <p:nvSpPr>
            <p:cNvPr id="256" name="Google Shape;256;p31"/>
            <p:cNvSpPr/>
            <p:nvPr/>
          </p:nvSpPr>
          <p:spPr>
            <a:xfrm>
              <a:off x="571500" y="6096000"/>
              <a:ext cx="11049000" cy="381000"/>
            </a:xfrm>
            <a:prstGeom prst="roundRect">
              <a:avLst>
                <a:gd fmla="val 12500" name="adj"/>
              </a:avLst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1"/>
            <p:cNvSpPr txBox="1"/>
            <p:nvPr/>
          </p:nvSpPr>
          <p:spPr>
            <a:xfrm>
              <a:off x="571500" y="6096000"/>
              <a:ext cx="1104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Each stage is independent and testable</a:t>
              </a:r>
              <a:endParaRPr b="0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Build vs. Descoped Decisions</a:t>
            </a:r>
            <a:endParaRPr/>
          </a:p>
        </p:txBody>
      </p:sp>
      <p:sp>
        <p:nvSpPr>
          <p:cNvPr id="263" name="Google Shape;263;p32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What We Built (48 hrs)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✓ SVG input parsing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✓ 3D extrusion/revolution/lofting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✓ Stone detection &amp; prong generation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✓ Manufacturing constraint validation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✓ STL export (binary &amp; ASCII)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✓ Streamlit web interface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✓ Configuration management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✓ Weight estimation</a:t>
            </a:r>
            <a:endParaRPr/>
          </a:p>
        </p:txBody>
      </p:sp>
      <p:sp>
        <p:nvSpPr>
          <p:cNvPr id="264" name="Google Shape;264;p32"/>
          <p:cNvSpPr txBox="1"/>
          <p:nvPr/>
        </p:nvSpPr>
        <p:spPr>
          <a:xfrm>
            <a:off x="5943600" y="1371600"/>
            <a:ext cx="54864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What We Descoped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✗ DXF/AI file format support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✗ ML-based feature detection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✗ Automatic stone type detection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✗ Rhino/Matrix plugin integration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✗ Real-time collaboration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✗ Advanced surface smoothing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✗ Multi-piece assembly support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✗ Unit tests (Phase 2)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33"/>
          <p:cNvGrpSpPr/>
          <p:nvPr/>
        </p:nvGrpSpPr>
        <p:grpSpPr>
          <a:xfrm>
            <a:off x="0" y="0"/>
            <a:ext cx="12192000" cy="1143000"/>
            <a:chOff x="0" y="0"/>
            <a:chExt cx="12192000" cy="1143000"/>
          </a:xfrm>
        </p:grpSpPr>
        <p:sp>
          <p:nvSpPr>
            <p:cNvPr id="270" name="Google Shape;270;p33"/>
            <p:cNvSpPr/>
            <p:nvPr/>
          </p:nvSpPr>
          <p:spPr>
            <a:xfrm>
              <a:off x="0" y="0"/>
              <a:ext cx="12192000" cy="11430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3"/>
            <p:cNvSpPr txBox="1"/>
            <p:nvPr/>
          </p:nvSpPr>
          <p:spPr>
            <a:xfrm>
              <a:off x="457200" y="285750"/>
              <a:ext cx="11277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Business Impact</a:t>
              </a:r>
              <a:endParaRPr b="1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2" name="Google Shape;272;p33"/>
          <p:cNvGrpSpPr/>
          <p:nvPr/>
        </p:nvGrpSpPr>
        <p:grpSpPr>
          <a:xfrm>
            <a:off x="457200" y="1428750"/>
            <a:ext cx="11001525" cy="1905000"/>
            <a:chOff x="457200" y="1428750"/>
            <a:chExt cx="11001525" cy="1905000"/>
          </a:xfrm>
        </p:grpSpPr>
        <p:sp>
          <p:nvSpPr>
            <p:cNvPr id="273" name="Google Shape;273;p33"/>
            <p:cNvSpPr/>
            <p:nvPr/>
          </p:nvSpPr>
          <p:spPr>
            <a:xfrm>
              <a:off x="457200" y="1428750"/>
              <a:ext cx="25719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3"/>
            <p:cNvSpPr txBox="1"/>
            <p:nvPr/>
          </p:nvSpPr>
          <p:spPr>
            <a:xfrm>
              <a:off x="457200" y="1428750"/>
              <a:ext cx="2571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Conversion Time</a:t>
              </a:r>
              <a:endParaRPr b="1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99.9%</a:t>
              </a:r>
              <a:endParaRPr b="1" sz="2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59669"/>
                  </a:solidFill>
                  <a:latin typeface="Calibri"/>
                  <a:ea typeface="Calibri"/>
                  <a:cs typeface="Calibri"/>
                  <a:sym typeface="Calibri"/>
                </a:rPr>
                <a:t>FASTER</a:t>
              </a:r>
              <a:endParaRPr b="1" sz="14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1-3 days → 10-30s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33"/>
            <p:cNvSpPr/>
            <p:nvPr/>
          </p:nvSpPr>
          <p:spPr>
            <a:xfrm>
              <a:off x="3267075" y="1428750"/>
              <a:ext cx="25719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33"/>
            <p:cNvSpPr txBox="1"/>
            <p:nvPr/>
          </p:nvSpPr>
          <p:spPr>
            <a:xfrm>
              <a:off x="3267075" y="1428750"/>
              <a:ext cx="2571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CAD Dependency</a:t>
              </a:r>
              <a:endParaRPr b="1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80%</a:t>
              </a:r>
              <a:endParaRPr b="1" sz="2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59669"/>
                  </a:solidFill>
                  <a:latin typeface="Calibri"/>
                  <a:ea typeface="Calibri"/>
                  <a:cs typeface="Calibri"/>
                  <a:sym typeface="Calibri"/>
                </a:rPr>
                <a:t>REDUCTION</a:t>
              </a:r>
              <a:endParaRPr b="1" sz="14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Required → Optional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33"/>
            <p:cNvSpPr/>
            <p:nvPr/>
          </p:nvSpPr>
          <p:spPr>
            <a:xfrm>
              <a:off x="6076950" y="1428750"/>
              <a:ext cx="25719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3"/>
            <p:cNvSpPr txBox="1"/>
            <p:nvPr/>
          </p:nvSpPr>
          <p:spPr>
            <a:xfrm>
              <a:off x="6076950" y="1428750"/>
              <a:ext cx="2571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Custom Capacity</a:t>
              </a:r>
              <a:endParaRPr b="1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10x</a:t>
              </a:r>
              <a:endParaRPr b="1" sz="2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59669"/>
                  </a:solidFill>
                  <a:latin typeface="Calibri"/>
                  <a:ea typeface="Calibri"/>
                  <a:cs typeface="Calibri"/>
                  <a:sym typeface="Calibri"/>
                </a:rPr>
                <a:t>INCREASE</a:t>
              </a:r>
              <a:endParaRPr b="1" sz="14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Limited → Scalable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33"/>
            <p:cNvSpPr/>
            <p:nvPr/>
          </p:nvSpPr>
          <p:spPr>
            <a:xfrm>
              <a:off x="8886825" y="1428750"/>
              <a:ext cx="25719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3"/>
            <p:cNvSpPr txBox="1"/>
            <p:nvPr/>
          </p:nvSpPr>
          <p:spPr>
            <a:xfrm>
              <a:off x="8886825" y="1428750"/>
              <a:ext cx="2571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Error Rate</a:t>
              </a:r>
              <a:endParaRPr b="1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67%</a:t>
              </a:r>
              <a:endParaRPr b="1" sz="2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59669"/>
                  </a:solidFill>
                  <a:latin typeface="Calibri"/>
                  <a:ea typeface="Calibri"/>
                  <a:cs typeface="Calibri"/>
                  <a:sym typeface="Calibri"/>
                </a:rPr>
                <a:t>REDUCTION</a:t>
              </a:r>
              <a:endParaRPr b="1" sz="14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~15% → &lt;5%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1" name="Google Shape;281;p33"/>
          <p:cNvGrpSpPr/>
          <p:nvPr/>
        </p:nvGrpSpPr>
        <p:grpSpPr>
          <a:xfrm>
            <a:off x="457200" y="3619500"/>
            <a:ext cx="11001300" cy="2667000"/>
            <a:chOff x="457200" y="3619500"/>
            <a:chExt cx="11001300" cy="2667000"/>
          </a:xfrm>
        </p:grpSpPr>
        <p:sp>
          <p:nvSpPr>
            <p:cNvPr id="282" name="Google Shape;282;p33"/>
            <p:cNvSpPr/>
            <p:nvPr/>
          </p:nvSpPr>
          <p:spPr>
            <a:xfrm>
              <a:off x="457200" y="3619500"/>
              <a:ext cx="11001300" cy="2667000"/>
            </a:xfrm>
            <a:prstGeom prst="roundRect">
              <a:avLst>
                <a:gd fmla="val 4285" name="adj"/>
              </a:avLst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3"/>
            <p:cNvSpPr txBox="1"/>
            <p:nvPr/>
          </p:nvSpPr>
          <p:spPr>
            <a:xfrm>
              <a:off x="762000" y="39052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Potential ROI</a:t>
              </a:r>
              <a:endParaRPr b="1" sz="2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33"/>
            <p:cNvSpPr txBox="1"/>
            <p:nvPr/>
          </p:nvSpPr>
          <p:spPr>
            <a:xfrm>
              <a:off x="762000" y="4381500"/>
              <a:ext cx="103824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429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Calibri"/>
                <a:buChar char="●"/>
              </a:pPr>
              <a:r>
                <a:rPr lang="en-US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Process </a:t>
              </a:r>
              <a:r>
                <a:rPr b="1" lang="en-US" sz="18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100+ designs/day</a:t>
              </a:r>
              <a:r>
                <a:rPr lang="en-US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vs. 1-2 currently</a:t>
              </a:r>
              <a:endParaRPr sz="18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Calibri"/>
                <a:buChar char="●"/>
              </a:pPr>
              <a:r>
                <a:rPr lang="en-US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Reduce CAD designer costs by </a:t>
              </a:r>
              <a:r>
                <a:rPr b="1" lang="en-US" sz="18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60-80%</a:t>
              </a:r>
              <a:endParaRPr sz="18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Calibri"/>
                <a:buChar char="●"/>
              </a:pPr>
              <a:r>
                <a:rPr lang="en-US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Enable </a:t>
              </a:r>
              <a:r>
                <a:rPr b="1" lang="en-US" sz="18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real-time</a:t>
              </a:r>
              <a:r>
                <a:rPr lang="en-US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custom order quotes</a:t>
              </a:r>
              <a:endParaRPr sz="18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34"/>
          <p:cNvGrpSpPr/>
          <p:nvPr/>
        </p:nvGrpSpPr>
        <p:grpSpPr>
          <a:xfrm>
            <a:off x="0" y="0"/>
            <a:ext cx="12192000" cy="952500"/>
            <a:chOff x="0" y="0"/>
            <a:chExt cx="12192000" cy="952500"/>
          </a:xfrm>
        </p:grpSpPr>
        <p:sp>
          <p:nvSpPr>
            <p:cNvPr id="290" name="Google Shape;290;p34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4"/>
            <p:cNvSpPr txBox="1"/>
            <p:nvPr/>
          </p:nvSpPr>
          <p:spPr>
            <a:xfrm>
              <a:off x="457200" y="190500"/>
              <a:ext cx="11277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AI-Enabled Development</a:t>
              </a:r>
              <a:endParaRPr b="1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" name="Google Shape;292;p34"/>
          <p:cNvGrpSpPr/>
          <p:nvPr/>
        </p:nvGrpSpPr>
        <p:grpSpPr>
          <a:xfrm>
            <a:off x="457200" y="1238250"/>
            <a:ext cx="11277600" cy="1524000"/>
            <a:chOff x="457200" y="1238250"/>
            <a:chExt cx="11277600" cy="1524000"/>
          </a:xfrm>
        </p:grpSpPr>
        <p:sp>
          <p:nvSpPr>
            <p:cNvPr id="293" name="Google Shape;293;p34"/>
            <p:cNvSpPr/>
            <p:nvPr/>
          </p:nvSpPr>
          <p:spPr>
            <a:xfrm>
              <a:off x="457200" y="1238250"/>
              <a:ext cx="11277600" cy="1524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4"/>
            <p:cNvSpPr txBox="1"/>
            <p:nvPr/>
          </p:nvSpPr>
          <p:spPr>
            <a:xfrm>
              <a:off x="666750" y="1381125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AI TOOLS USED</a:t>
              </a:r>
              <a:endParaRPr b="1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34"/>
            <p:cNvSpPr txBox="1"/>
            <p:nvPr/>
          </p:nvSpPr>
          <p:spPr>
            <a:xfrm>
              <a:off x="666750" y="1762125"/>
              <a:ext cx="3333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Claude</a:t>
              </a:r>
              <a:endParaRPr b="1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Architecture design, code generation, debugging</a:t>
              </a:r>
              <a:endParaRPr b="0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34"/>
            <p:cNvSpPr txBox="1"/>
            <p:nvPr/>
          </p:nvSpPr>
          <p:spPr>
            <a:xfrm>
              <a:off x="4381500" y="1762125"/>
              <a:ext cx="3333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GitHub Copilot</a:t>
              </a:r>
              <a:endParaRPr b="1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Code completion, boilerplate reduction</a:t>
              </a:r>
              <a:endParaRPr b="0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34"/>
            <p:cNvSpPr txBox="1"/>
            <p:nvPr/>
          </p:nvSpPr>
          <p:spPr>
            <a:xfrm>
              <a:off x="8096250" y="1762125"/>
              <a:ext cx="3333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ChatGPT</a:t>
              </a:r>
              <a:endParaRPr b="1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Domain research (jewelry CAD terminology)</a:t>
              </a:r>
              <a:endParaRPr b="0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" name="Google Shape;298;p34"/>
          <p:cNvGrpSpPr/>
          <p:nvPr/>
        </p:nvGrpSpPr>
        <p:grpSpPr>
          <a:xfrm>
            <a:off x="457200" y="2952750"/>
            <a:ext cx="5524500" cy="3524400"/>
            <a:chOff x="457200" y="2952750"/>
            <a:chExt cx="5524500" cy="3524400"/>
          </a:xfrm>
        </p:grpSpPr>
        <p:sp>
          <p:nvSpPr>
            <p:cNvPr id="299" name="Google Shape;299;p34"/>
            <p:cNvSpPr/>
            <p:nvPr/>
          </p:nvSpPr>
          <p:spPr>
            <a:xfrm>
              <a:off x="457200" y="2952750"/>
              <a:ext cx="5524500" cy="3524400"/>
            </a:xfrm>
            <a:prstGeom prst="roundRect">
              <a:avLst>
                <a:gd fmla="val 3243" name="adj"/>
              </a:avLst>
            </a:prstGeom>
            <a:solidFill>
              <a:srgbClr val="F0FDF4"/>
            </a:solidFill>
            <a:ln cap="flat" cmpd="sng" w="9525">
              <a:solidFill>
                <a:srgbClr val="BBF7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4"/>
            <p:cNvSpPr txBox="1"/>
            <p:nvPr/>
          </p:nvSpPr>
          <p:spPr>
            <a:xfrm>
              <a:off x="666750" y="31432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66534"/>
                  </a:solidFill>
                  <a:latin typeface="Calibri"/>
                  <a:ea typeface="Calibri"/>
                  <a:cs typeface="Calibri"/>
                  <a:sym typeface="Calibri"/>
                </a:rPr>
                <a:t>HOW AI ACCELERATED DEVELOPMENT</a:t>
              </a:r>
              <a:endParaRPr b="1" sz="1400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34"/>
            <p:cNvSpPr txBox="1"/>
            <p:nvPr/>
          </p:nvSpPr>
          <p:spPr>
            <a:xfrm>
              <a:off x="666750" y="3619500"/>
              <a:ext cx="5048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302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4532D"/>
                </a:buClr>
                <a:buSzPts val="1600"/>
                <a:buFont typeface="Calibri"/>
                <a:buChar char="●"/>
              </a:pPr>
              <a:r>
                <a:rPr b="0" lang="en-US" sz="1600">
                  <a:solidFill>
                    <a:srgbClr val="14532D"/>
                  </a:solidFill>
                  <a:latin typeface="Calibri"/>
                  <a:ea typeface="Calibri"/>
                  <a:cs typeface="Calibri"/>
                  <a:sym typeface="Calibri"/>
                </a:rPr>
                <a:t>Learned jewelry CAD domain in </a:t>
              </a:r>
              <a:r>
                <a:rPr b="1" lang="en-US" sz="1600">
                  <a:solidFill>
                    <a:srgbClr val="14532D"/>
                  </a:solidFill>
                  <a:latin typeface="Calibri"/>
                  <a:ea typeface="Calibri"/>
                  <a:cs typeface="Calibri"/>
                  <a:sym typeface="Calibri"/>
                </a:rPr>
                <a:t>&lt;1 hour</a:t>
              </a:r>
              <a:endParaRPr b="0" sz="1600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14532D"/>
                </a:buClr>
                <a:buSzPts val="1600"/>
                <a:buFont typeface="Calibri"/>
                <a:buChar char="●"/>
              </a:pPr>
              <a:r>
                <a:rPr b="0" lang="en-US" sz="1600">
                  <a:solidFill>
                    <a:srgbClr val="14532D"/>
                  </a:solidFill>
                  <a:latin typeface="Calibri"/>
                  <a:ea typeface="Calibri"/>
                  <a:cs typeface="Calibri"/>
                  <a:sym typeface="Calibri"/>
                </a:rPr>
                <a:t>Generated </a:t>
              </a:r>
              <a:r>
                <a:rPr b="1" lang="en-US" sz="1600">
                  <a:solidFill>
                    <a:srgbClr val="14532D"/>
                  </a:solidFill>
                  <a:latin typeface="Calibri"/>
                  <a:ea typeface="Calibri"/>
                  <a:cs typeface="Calibri"/>
                  <a:sym typeface="Calibri"/>
                </a:rPr>
                <a:t>60%</a:t>
              </a:r>
              <a:r>
                <a:rPr b="0" lang="en-US" sz="1600">
                  <a:solidFill>
                    <a:srgbClr val="14532D"/>
                  </a:solidFill>
                  <a:latin typeface="Calibri"/>
                  <a:ea typeface="Calibri"/>
                  <a:cs typeface="Calibri"/>
                  <a:sym typeface="Calibri"/>
                </a:rPr>
                <a:t> of boilerplate code</a:t>
              </a:r>
              <a:endParaRPr b="0" sz="1600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14532D"/>
                </a:buClr>
                <a:buSzPts val="1600"/>
                <a:buFont typeface="Calibri"/>
                <a:buChar char="●"/>
              </a:pPr>
              <a:r>
                <a:rPr b="0" lang="en-US" sz="1600">
                  <a:solidFill>
                    <a:srgbClr val="14532D"/>
                  </a:solidFill>
                  <a:latin typeface="Calibri"/>
                  <a:ea typeface="Calibri"/>
                  <a:cs typeface="Calibri"/>
                  <a:sym typeface="Calibri"/>
                </a:rPr>
                <a:t>Validated architecture decisions</a:t>
              </a:r>
              <a:endParaRPr b="0" sz="1600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14532D"/>
                </a:buClr>
                <a:buSzPts val="1600"/>
                <a:buFont typeface="Calibri"/>
                <a:buChar char="●"/>
              </a:pPr>
              <a:r>
                <a:rPr b="0" lang="en-US" sz="1600">
                  <a:solidFill>
                    <a:srgbClr val="14532D"/>
                  </a:solidFill>
                  <a:latin typeface="Calibri"/>
                  <a:ea typeface="Calibri"/>
                  <a:cs typeface="Calibri"/>
                  <a:sym typeface="Calibri"/>
                </a:rPr>
                <a:t>Accelerated documentation (PRD, README)</a:t>
              </a:r>
              <a:endParaRPr b="0" sz="1600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34"/>
          <p:cNvGrpSpPr/>
          <p:nvPr/>
        </p:nvGrpSpPr>
        <p:grpSpPr>
          <a:xfrm>
            <a:off x="6210300" y="2952750"/>
            <a:ext cx="5524500" cy="3524400"/>
            <a:chOff x="6210300" y="2952750"/>
            <a:chExt cx="5524500" cy="3524400"/>
          </a:xfrm>
        </p:grpSpPr>
        <p:sp>
          <p:nvSpPr>
            <p:cNvPr id="303" name="Google Shape;303;p34"/>
            <p:cNvSpPr/>
            <p:nvPr/>
          </p:nvSpPr>
          <p:spPr>
            <a:xfrm>
              <a:off x="6210300" y="2952750"/>
              <a:ext cx="5524500" cy="3524400"/>
            </a:xfrm>
            <a:prstGeom prst="roundRect">
              <a:avLst>
                <a:gd fmla="val 3243" name="adj"/>
              </a:avLst>
            </a:prstGeom>
            <a:solidFill>
              <a:srgbClr val="FEF2F2"/>
            </a:solidFill>
            <a:ln cap="flat" cmpd="sng" w="9525">
              <a:solidFill>
                <a:srgbClr val="FECA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4"/>
            <p:cNvSpPr txBox="1"/>
            <p:nvPr/>
          </p:nvSpPr>
          <p:spPr>
            <a:xfrm>
              <a:off x="6419850" y="31432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991B1B"/>
                  </a:solidFill>
                  <a:latin typeface="Calibri"/>
                  <a:ea typeface="Calibri"/>
                  <a:cs typeface="Calibri"/>
                  <a:sym typeface="Calibri"/>
                </a:rPr>
                <a:t>WHERE AI FELL SHORT</a:t>
              </a:r>
              <a:endParaRPr b="1" sz="140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34"/>
            <p:cNvSpPr txBox="1"/>
            <p:nvPr/>
          </p:nvSpPr>
          <p:spPr>
            <a:xfrm>
              <a:off x="6419850" y="3619500"/>
              <a:ext cx="5048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302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7F1D1D"/>
                </a:buClr>
                <a:buSzPts val="1600"/>
                <a:buFont typeface="Calibri"/>
                <a:buChar char="●"/>
              </a:pPr>
              <a:r>
                <a:rPr b="0" lang="en-US" sz="1600">
                  <a:solidFill>
                    <a:srgbClr val="7F1D1D"/>
                  </a:solidFill>
                  <a:latin typeface="Calibri"/>
                  <a:ea typeface="Calibri"/>
                  <a:cs typeface="Calibri"/>
                  <a:sym typeface="Calibri"/>
                </a:rPr>
                <a:t>Complex geometry (bezier discretization)</a:t>
              </a:r>
              <a:endParaRPr b="0" sz="1600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7F1D1D"/>
                </a:buClr>
                <a:buSzPts val="1600"/>
                <a:buFont typeface="Calibri"/>
                <a:buChar char="●"/>
              </a:pPr>
              <a:r>
                <a:rPr b="0" lang="en-US" sz="1600">
                  <a:solidFill>
                    <a:srgbClr val="7F1D1D"/>
                  </a:solidFill>
                  <a:latin typeface="Calibri"/>
                  <a:ea typeface="Calibri"/>
                  <a:cs typeface="Calibri"/>
                  <a:sym typeface="Calibri"/>
                </a:rPr>
                <a:t>Edge case handling (degenerate meshes)</a:t>
              </a:r>
              <a:endParaRPr b="0" sz="1600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7F1D1D"/>
                </a:buClr>
                <a:buSzPts val="1600"/>
                <a:buFont typeface="Calibri"/>
                <a:buChar char="●"/>
              </a:pPr>
              <a:r>
                <a:rPr b="0" lang="en-US" sz="1600">
                  <a:solidFill>
                    <a:srgbClr val="7F1D1D"/>
                  </a:solidFill>
                  <a:latin typeface="Calibri"/>
                  <a:ea typeface="Calibri"/>
                  <a:cs typeface="Calibri"/>
                  <a:sym typeface="Calibri"/>
                </a:rPr>
                <a:t>Domain nuances (lost-wax casting rules)</a:t>
              </a:r>
              <a:endParaRPr b="0" sz="1600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5"/>
          <p:cNvSpPr txBox="1"/>
          <p:nvPr/>
        </p:nvSpPr>
        <p:spPr>
          <a:xfrm>
            <a:off x="457200" y="0"/>
            <a:ext cx="11277600" cy="554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0" lIns="1905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Roadmap</a:t>
            </a:r>
            <a:endParaRPr b="1" i="0" sz="3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1" name="Google Shape;311;p35"/>
          <p:cNvGrpSpPr/>
          <p:nvPr/>
        </p:nvGrpSpPr>
        <p:grpSpPr>
          <a:xfrm>
            <a:off x="476250" y="1428750"/>
            <a:ext cx="5334000" cy="4000500"/>
            <a:chOff x="476250" y="1428750"/>
            <a:chExt cx="5334000" cy="4000500"/>
          </a:xfrm>
        </p:grpSpPr>
        <p:sp>
          <p:nvSpPr>
            <p:cNvPr id="312" name="Google Shape;312;p35"/>
            <p:cNvSpPr/>
            <p:nvPr/>
          </p:nvSpPr>
          <p:spPr>
            <a:xfrm>
              <a:off x="476250" y="1428750"/>
              <a:ext cx="5334000" cy="40005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3" name="Google Shape;313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6250" y="1428750"/>
              <a:ext cx="5334000" cy="47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" name="Google Shape;314;p35"/>
            <p:cNvSpPr txBox="1"/>
            <p:nvPr/>
          </p:nvSpPr>
          <p:spPr>
            <a:xfrm>
              <a:off x="666750" y="1476375"/>
              <a:ext cx="495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Phase 2 (Next 2 Weeks)</a:t>
              </a:r>
              <a:endParaRPr b="1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35"/>
            <p:cNvSpPr txBox="1"/>
            <p:nvPr/>
          </p:nvSpPr>
          <p:spPr>
            <a:xfrm>
              <a:off x="666750" y="2095500"/>
              <a:ext cx="49530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302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600"/>
                <a:buFont typeface="Calibri"/>
                <a:buChar char="●"/>
              </a:pPr>
              <a:r>
                <a:rPr lang="en-US" sz="16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DXF file format support</a:t>
              </a:r>
              <a:endParaRPr sz="16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34155"/>
                </a:buClr>
                <a:buSzPts val="1600"/>
                <a:buFont typeface="Calibri"/>
                <a:buChar char="●"/>
              </a:pPr>
              <a:r>
                <a:rPr lang="en-US" sz="16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Advanced surface smoothing (Laplacian + HC)</a:t>
              </a:r>
              <a:endParaRPr sz="16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34155"/>
                </a:buClr>
                <a:buSzPts val="1600"/>
                <a:buFont typeface="Calibri"/>
                <a:buChar char="●"/>
              </a:pPr>
              <a:r>
                <a:rPr lang="en-US" sz="16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Batch processing CLI</a:t>
              </a:r>
              <a:endParaRPr sz="16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34155"/>
                </a:buClr>
                <a:buSzPts val="1600"/>
                <a:buFont typeface="Calibri"/>
                <a:buChar char="●"/>
              </a:pPr>
              <a:r>
                <a:rPr lang="en-US" sz="16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Integration tests with real designs</a:t>
              </a:r>
              <a:endParaRPr sz="16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35"/>
          <p:cNvGrpSpPr/>
          <p:nvPr/>
        </p:nvGrpSpPr>
        <p:grpSpPr>
          <a:xfrm>
            <a:off x="6381750" y="1428750"/>
            <a:ext cx="5334000" cy="4000500"/>
            <a:chOff x="6381750" y="1428750"/>
            <a:chExt cx="5334000" cy="4000500"/>
          </a:xfrm>
        </p:grpSpPr>
        <p:sp>
          <p:nvSpPr>
            <p:cNvPr id="317" name="Google Shape;317;p35"/>
            <p:cNvSpPr/>
            <p:nvPr/>
          </p:nvSpPr>
          <p:spPr>
            <a:xfrm>
              <a:off x="6381750" y="1428750"/>
              <a:ext cx="5334000" cy="40005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8" name="Google Shape;318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81750" y="1428750"/>
              <a:ext cx="2762400" cy="47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" name="Google Shape;319;p35"/>
            <p:cNvSpPr txBox="1"/>
            <p:nvPr/>
          </p:nvSpPr>
          <p:spPr>
            <a:xfrm>
              <a:off x="6572250" y="1476375"/>
              <a:ext cx="495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Phase 3 (Next Month)</a:t>
              </a:r>
              <a:endParaRPr b="1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35"/>
            <p:cNvSpPr txBox="1"/>
            <p:nvPr/>
          </p:nvSpPr>
          <p:spPr>
            <a:xfrm>
              <a:off x="6572250" y="2095500"/>
              <a:ext cx="49530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302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600"/>
                <a:buFont typeface="Calibri"/>
                <a:buChar char="●"/>
              </a:pPr>
              <a:r>
                <a:rPr lang="en-US" sz="16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ML-based feature detection</a:t>
              </a:r>
              <a:endParaRPr sz="16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34155"/>
                </a:buClr>
                <a:buSzPts val="1600"/>
                <a:buFont typeface="Calibri"/>
                <a:buChar char="●"/>
              </a:pPr>
              <a:r>
                <a:rPr lang="en-US" sz="16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Rhino plugin for direct import</a:t>
              </a:r>
              <a:endParaRPr sz="16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34155"/>
                </a:buClr>
                <a:buSzPts val="1600"/>
                <a:buFont typeface="Calibri"/>
                <a:buChar char="●"/>
              </a:pPr>
              <a:r>
                <a:rPr lang="en-US" sz="16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Cost estimation (material + labor)</a:t>
              </a:r>
              <a:endParaRPr sz="16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36"/>
          <p:cNvGrpSpPr/>
          <p:nvPr/>
        </p:nvGrpSpPr>
        <p:grpSpPr>
          <a:xfrm>
            <a:off x="0" y="0"/>
            <a:ext cx="12192000" cy="952500"/>
            <a:chOff x="0" y="0"/>
            <a:chExt cx="12192000" cy="952500"/>
          </a:xfrm>
        </p:grpSpPr>
        <p:sp>
          <p:nvSpPr>
            <p:cNvPr id="326" name="Google Shape;326;p36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6"/>
            <p:cNvSpPr txBox="1"/>
            <p:nvPr/>
          </p:nvSpPr>
          <p:spPr>
            <a:xfrm>
              <a:off x="457200" y="0"/>
              <a:ext cx="11277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Project Summary</a:t>
              </a:r>
              <a:endParaRPr b="1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p36"/>
          <p:cNvGrpSpPr/>
          <p:nvPr/>
        </p:nvGrpSpPr>
        <p:grpSpPr>
          <a:xfrm>
            <a:off x="457200" y="1238250"/>
            <a:ext cx="7143900" cy="3238500"/>
            <a:chOff x="457200" y="1238250"/>
            <a:chExt cx="7143900" cy="3238500"/>
          </a:xfrm>
        </p:grpSpPr>
        <p:sp>
          <p:nvSpPr>
            <p:cNvPr id="329" name="Google Shape;329;p36"/>
            <p:cNvSpPr/>
            <p:nvPr/>
          </p:nvSpPr>
          <p:spPr>
            <a:xfrm>
              <a:off x="457200" y="1238250"/>
              <a:ext cx="71439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6"/>
            <p:cNvSpPr txBox="1"/>
            <p:nvPr/>
          </p:nvSpPr>
          <p:spPr>
            <a:xfrm>
              <a:off x="647700" y="1428750"/>
              <a:ext cx="6762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DELIVERABLES COMPLETED</a:t>
              </a:r>
              <a:endParaRPr b="1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Working end-to-end prototype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Product Requirements Document (PRD)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Streamlit web interface &amp; CLI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Sample test cases with SVG inputs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8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Generated STL output files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1" name="Google Shape;331;p36"/>
          <p:cNvGrpSpPr/>
          <p:nvPr/>
        </p:nvGrpSpPr>
        <p:grpSpPr>
          <a:xfrm>
            <a:off x="7905750" y="1238250"/>
            <a:ext cx="3810000" cy="3238500"/>
            <a:chOff x="7905750" y="1238250"/>
            <a:chExt cx="3810000" cy="3238500"/>
          </a:xfrm>
        </p:grpSpPr>
        <p:sp>
          <p:nvSpPr>
            <p:cNvPr id="332" name="Google Shape;332;p36"/>
            <p:cNvSpPr/>
            <p:nvPr/>
          </p:nvSpPr>
          <p:spPr>
            <a:xfrm>
              <a:off x="7905750" y="1238250"/>
              <a:ext cx="3810000" cy="3238500"/>
            </a:xfrm>
            <a:prstGeom prst="roundRect">
              <a:avLst>
                <a:gd fmla="val 3529" name="adj"/>
              </a:avLst>
            </a:prstGeom>
            <a:solidFill>
              <a:srgbClr val="F0FDF4"/>
            </a:solidFill>
            <a:ln cap="flat" cmpd="sng" w="9525">
              <a:solidFill>
                <a:srgbClr val="BBF7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6"/>
            <p:cNvSpPr txBox="1"/>
            <p:nvPr/>
          </p:nvSpPr>
          <p:spPr>
            <a:xfrm>
              <a:off x="8096250" y="1428750"/>
              <a:ext cx="3429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66534"/>
                  </a:solidFill>
                  <a:latin typeface="Calibri"/>
                  <a:ea typeface="Calibri"/>
                  <a:cs typeface="Calibri"/>
                  <a:sym typeface="Calibri"/>
                </a:rPr>
                <a:t>KEY ACHIEVEMENT</a:t>
              </a:r>
              <a:endParaRPr b="1" sz="1400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14532D"/>
                  </a:solidFill>
                  <a:latin typeface="Calibri"/>
                  <a:ea typeface="Calibri"/>
                  <a:cs typeface="Calibri"/>
                  <a:sym typeface="Calibri"/>
                </a:rPr>
                <a:t>Jewelry CAD Conversion Time</a:t>
              </a:r>
              <a:endParaRPr sz="1200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166534"/>
                  </a:solidFill>
                  <a:latin typeface="Calibri"/>
                  <a:ea typeface="Calibri"/>
                  <a:cs typeface="Calibri"/>
                  <a:sym typeface="Calibri"/>
                </a:rPr>
                <a:t>1-3 Days</a:t>
              </a:r>
              <a:endParaRPr b="1" sz="3200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4532D"/>
                  </a:solidFill>
                  <a:latin typeface="Calibri"/>
                  <a:ea typeface="Calibri"/>
                  <a:cs typeface="Calibri"/>
                  <a:sym typeface="Calibri"/>
                </a:rPr>
                <a:t>to</a:t>
              </a:r>
              <a:endParaRPr b="1" sz="1800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16A34A"/>
                  </a:solidFill>
                  <a:latin typeface="Calibri"/>
                  <a:ea typeface="Calibri"/>
                  <a:cs typeface="Calibri"/>
                  <a:sym typeface="Calibri"/>
                </a:rPr>
                <a:t>10-30 Secs</a:t>
              </a:r>
              <a:endParaRPr b="1" sz="32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4" name="Google Shape;334;p36"/>
          <p:cNvGrpSpPr/>
          <p:nvPr/>
        </p:nvGrpSpPr>
        <p:grpSpPr>
          <a:xfrm>
            <a:off x="457200" y="4762500"/>
            <a:ext cx="11258700" cy="1714500"/>
            <a:chOff x="457200" y="4762500"/>
            <a:chExt cx="11258700" cy="1714500"/>
          </a:xfrm>
        </p:grpSpPr>
        <p:sp>
          <p:nvSpPr>
            <p:cNvPr id="335" name="Google Shape;335;p36"/>
            <p:cNvSpPr/>
            <p:nvPr/>
          </p:nvSpPr>
          <p:spPr>
            <a:xfrm>
              <a:off x="457200" y="4762500"/>
              <a:ext cx="112587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6"/>
            <p:cNvSpPr txBox="1"/>
            <p:nvPr/>
          </p:nvSpPr>
          <p:spPr>
            <a:xfrm>
              <a:off x="647700" y="4953000"/>
              <a:ext cx="108777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9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REPOSITORY STRUCTURE</a:t>
              </a:r>
              <a:endParaRPr b="1" sz="119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19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src/jewelry_cad/</a:t>
              </a:r>
              <a:r>
                <a:rPr lang="en-US" sz="119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- Core pipeline modules</a:t>
              </a:r>
              <a:endParaRPr sz="119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9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app.py</a:t>
              </a:r>
              <a:r>
                <a:rPr lang="en-US" sz="119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- Streamlit web interface</a:t>
              </a:r>
              <a:endParaRPr sz="119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9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test_cases/</a:t>
              </a:r>
              <a:r>
                <a:rPr lang="en-US" sz="119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- Sample inputs and outputs</a:t>
              </a:r>
              <a:endParaRPr sz="119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9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PRD_Jewelry_CAD_Automation.md</a:t>
              </a:r>
              <a:r>
                <a:rPr lang="en-US" sz="119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- Detailed documentation</a:t>
              </a:r>
              <a:endParaRPr sz="119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